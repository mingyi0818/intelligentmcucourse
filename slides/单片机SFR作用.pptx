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62" r:id="rId5"/>
    <p:sldId id="260" r:id="rId6"/>
    <p:sldId id="265" r:id="rId7"/>
    <p:sldId id="259" r:id="rId8"/>
    <p:sldId id="266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7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4.png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image" Target="../media/image6.png"/><Relationship Id="rId5" Type="http://schemas.openxmlformats.org/officeDocument/2006/relationships/tags" Target="../tags/tag13.xml"/><Relationship Id="rId4" Type="http://schemas.openxmlformats.org/officeDocument/2006/relationships/image" Target="../media/image5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8.png"/><Relationship Id="rId5" Type="http://schemas.openxmlformats.org/officeDocument/2006/relationships/tags" Target="../tags/tag21.xml"/><Relationship Id="rId4" Type="http://schemas.openxmlformats.org/officeDocument/2006/relationships/image" Target="../media/image7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9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6.png"/><Relationship Id="rId5" Type="http://schemas.openxmlformats.org/officeDocument/2006/relationships/tags" Target="../tags/tag37.xml"/><Relationship Id="rId4" Type="http://schemas.openxmlformats.org/officeDocument/2006/relationships/image" Target="../media/image5.png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12.png"/><Relationship Id="rId7" Type="http://schemas.openxmlformats.org/officeDocument/2006/relationships/tags" Target="../tags/tag49.xml"/><Relationship Id="rId6" Type="http://schemas.openxmlformats.org/officeDocument/2006/relationships/image" Target="../media/image11.png"/><Relationship Id="rId5" Type="http://schemas.openxmlformats.org/officeDocument/2006/relationships/tags" Target="../tags/tag48.xml"/><Relationship Id="rId4" Type="http://schemas.openxmlformats.org/officeDocument/2006/relationships/image" Target="../media/image10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image" Target="../media/image9.png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9.pn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image" Target="../media/image6.png"/><Relationship Id="rId6" Type="http://schemas.openxmlformats.org/officeDocument/2006/relationships/tags" Target="../tags/tag69.xml"/><Relationship Id="rId5" Type="http://schemas.openxmlformats.org/officeDocument/2006/relationships/image" Target="../media/image5.png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image" Target="../media/image6.png"/><Relationship Id="rId6" Type="http://schemas.openxmlformats.org/officeDocument/2006/relationships/tags" Target="../tags/tag78.xml"/><Relationship Id="rId5" Type="http://schemas.openxmlformats.org/officeDocument/2006/relationships/image" Target="../media/image5.pn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image" Target="../media/image8.png"/><Relationship Id="rId5" Type="http://schemas.openxmlformats.org/officeDocument/2006/relationships/tags" Target="../tags/tag85.xml"/><Relationship Id="rId4" Type="http://schemas.openxmlformats.org/officeDocument/2006/relationships/image" Target="../media/image7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9.png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image" Target="../media/image6.png"/><Relationship Id="rId5" Type="http://schemas.openxmlformats.org/officeDocument/2006/relationships/tags" Target="../tags/tag98.xml"/><Relationship Id="rId4" Type="http://schemas.openxmlformats.org/officeDocument/2006/relationships/image" Target="../media/image5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9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image" Target="../media/image6.png"/><Relationship Id="rId6" Type="http://schemas.openxmlformats.org/officeDocument/2006/relationships/tags" Target="../tags/tag115.xml"/><Relationship Id="rId5" Type="http://schemas.openxmlformats.org/officeDocument/2006/relationships/image" Target="../media/image5.png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image" Target="../media/image6.png"/><Relationship Id="rId5" Type="http://schemas.openxmlformats.org/officeDocument/2006/relationships/tags" Target="../tags/tag124.xml"/><Relationship Id="rId4" Type="http://schemas.openxmlformats.org/officeDocument/2006/relationships/image" Target="../media/image5.png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image" Target="../media/image6.png"/><Relationship Id="rId6" Type="http://schemas.openxmlformats.org/officeDocument/2006/relationships/tags" Target="../tags/tag135.xml"/><Relationship Id="rId5" Type="http://schemas.openxmlformats.org/officeDocument/2006/relationships/image" Target="../media/image5.png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image" Target="../media/image9.png"/><Relationship Id="rId7" Type="http://schemas.openxmlformats.org/officeDocument/2006/relationships/tags" Target="../tags/tag147.xml"/><Relationship Id="rId6" Type="http://schemas.openxmlformats.org/officeDocument/2006/relationships/image" Target="../media/image14.png"/><Relationship Id="rId5" Type="http://schemas.openxmlformats.org/officeDocument/2006/relationships/tags" Target="../tags/tag146.xml"/><Relationship Id="rId4" Type="http://schemas.openxmlformats.org/officeDocument/2006/relationships/image" Target="../media/image13.png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2418193" y="3241173"/>
            <a:ext cx="7355616" cy="2308324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7200" spc="600" baseline="0"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</a:t>
            </a:r>
            <a:br>
              <a:rPr lang="en-US" altLang="zh-CN" dirty="0"/>
            </a:br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7" name="组合 6"/>
          <p:cNvGrpSpPr/>
          <p:nvPr userDrawn="1">
            <p:custDataLst>
              <p:tags r:id="rId3"/>
            </p:custDataLst>
          </p:nvPr>
        </p:nvGrpSpPr>
        <p:grpSpPr>
          <a:xfrm>
            <a:off x="1429292" y="0"/>
            <a:ext cx="9632412" cy="3073138"/>
            <a:chOff x="1448702" y="0"/>
            <a:chExt cx="9632412" cy="3073138"/>
          </a:xfrm>
        </p:grpSpPr>
        <p:pic>
          <p:nvPicPr>
            <p:cNvPr id="8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7952875" y="0"/>
              <a:ext cx="1078400" cy="2404533"/>
            </a:xfrm>
            <a:prstGeom prst="rect">
              <a:avLst/>
            </a:prstGeom>
          </p:spPr>
        </p:pic>
        <p:pic>
          <p:nvPicPr>
            <p:cNvPr id="9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9702854" y="0"/>
              <a:ext cx="1378260" cy="3073138"/>
            </a:xfrm>
            <a:prstGeom prst="rect">
              <a:avLst/>
            </a:prstGeom>
          </p:spPr>
        </p:pic>
        <p:pic>
          <p:nvPicPr>
            <p:cNvPr id="10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1448702" y="0"/>
              <a:ext cx="1376445" cy="3069090"/>
            </a:xfrm>
            <a:prstGeom prst="rect">
              <a:avLst/>
            </a:prstGeom>
          </p:spPr>
        </p:pic>
        <p:pic>
          <p:nvPicPr>
            <p:cNvPr id="11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 rotWithShape="1">
            <a:blip r:embed="rId11"/>
            <a:srcRect/>
            <a:stretch>
              <a:fillRect/>
            </a:stretch>
          </p:blipFill>
          <p:spPr>
            <a:xfrm>
              <a:off x="5599835" y="0"/>
              <a:ext cx="992331" cy="2212622"/>
            </a:xfrm>
            <a:prstGeom prst="rect">
              <a:avLst/>
            </a:prstGeom>
          </p:spPr>
        </p:pic>
        <p:pic>
          <p:nvPicPr>
            <p:cNvPr id="12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3435622" y="0"/>
              <a:ext cx="1078400" cy="2404533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781363" y="1270"/>
            <a:ext cx="1075625" cy="1256665"/>
            <a:chOff x="10781363" y="1270"/>
            <a:chExt cx="1075625" cy="1256665"/>
          </a:xfrm>
        </p:grpSpPr>
        <p:pic>
          <p:nvPicPr>
            <p:cNvPr id="11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2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0800" tIns="39600" rIns="75600" bIns="396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8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7854633" y="1509"/>
            <a:ext cx="3506694" cy="4093634"/>
            <a:chOff x="7854633" y="1509"/>
            <a:chExt cx="3506694" cy="4093634"/>
          </a:xfrm>
        </p:grpSpPr>
        <p:pic>
          <p:nvPicPr>
            <p:cNvPr id="7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7854633" y="1509"/>
              <a:ext cx="1835939" cy="4093634"/>
            </a:xfrm>
            <a:prstGeom prst="rect">
              <a:avLst/>
            </a:prstGeom>
          </p:spPr>
        </p:pic>
        <p:pic>
          <p:nvPicPr>
            <p:cNvPr id="8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078618" y="1509"/>
              <a:ext cx="1282709" cy="2860085"/>
            </a:xfrm>
            <a:prstGeom prst="rect">
              <a:avLst/>
            </a:prstGeom>
          </p:spPr>
        </p:pic>
      </p:grp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1635330" y="3052563"/>
            <a:ext cx="1012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472027" y="3157819"/>
            <a:ext cx="5430423" cy="92280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1472027" y="4159011"/>
            <a:ext cx="5426119" cy="922804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781363" y="1270"/>
            <a:ext cx="1075625" cy="1256665"/>
            <a:chOff x="10781363" y="1270"/>
            <a:chExt cx="1075625" cy="1256665"/>
          </a:xfrm>
        </p:grpSpPr>
        <p:pic>
          <p:nvPicPr>
            <p:cNvPr id="16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7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9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0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1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1534584" cy="2803983"/>
            <a:chOff x="0" y="0"/>
            <a:chExt cx="11534584" cy="2803983"/>
          </a:xfrm>
        </p:grpSpPr>
        <p:pic>
          <p:nvPicPr>
            <p:cNvPr id="6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959069" y="1"/>
              <a:ext cx="903822" cy="2015272"/>
            </a:xfrm>
            <a:prstGeom prst="rect">
              <a:avLst/>
            </a:prstGeom>
          </p:spPr>
        </p:pic>
        <p:pic>
          <p:nvPicPr>
            <p:cNvPr id="7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277036" y="0"/>
              <a:ext cx="1257548" cy="2803983"/>
            </a:xfrm>
            <a:prstGeom prst="rect">
              <a:avLst/>
            </a:prstGeom>
          </p:spPr>
        </p:pic>
        <p:pic>
          <p:nvPicPr>
            <p:cNvPr id="8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0" y="0"/>
              <a:ext cx="600075" cy="1337310"/>
            </a:xfrm>
            <a:prstGeom prst="rect">
              <a:avLst/>
            </a:prstGeom>
          </p:spPr>
        </p:pic>
        <p:pic>
          <p:nvPicPr>
            <p:cNvPr id="9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0"/>
            <a:srcRect/>
            <a:stretch>
              <a:fillRect/>
            </a:stretch>
          </p:blipFill>
          <p:spPr>
            <a:xfrm>
              <a:off x="726440" y="0"/>
              <a:ext cx="419100" cy="93472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292800" y="1270"/>
            <a:ext cx="11606400" cy="6552530"/>
            <a:chOff x="292800" y="1270"/>
            <a:chExt cx="11606400" cy="6552530"/>
          </a:xfrm>
        </p:grpSpPr>
        <p:sp>
          <p:nvSpPr>
            <p:cNvPr id="13" name="矩形 12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 w="508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5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000" tIns="46800" rIns="90000" bIns="46800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92800" y="1270"/>
            <a:ext cx="11606400" cy="6552530"/>
            <a:chOff x="292800" y="1270"/>
            <a:chExt cx="11606400" cy="655253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 w="508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6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324949" y="0"/>
            <a:ext cx="3506694" cy="4093634"/>
            <a:chOff x="1324949" y="0"/>
            <a:chExt cx="3506694" cy="4093634"/>
          </a:xfrm>
        </p:grpSpPr>
        <p:pic>
          <p:nvPicPr>
            <p:cNvPr id="6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324949" y="0"/>
              <a:ext cx="1835939" cy="4093634"/>
            </a:xfrm>
            <a:prstGeom prst="rect">
              <a:avLst/>
            </a:prstGeom>
          </p:spPr>
        </p:pic>
        <p:pic>
          <p:nvPicPr>
            <p:cNvPr id="7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3548934" y="0"/>
              <a:ext cx="1282709" cy="286008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669257" y="3963793"/>
            <a:ext cx="5305743" cy="637235"/>
          </a:xfrm>
        </p:spPr>
        <p:txBody>
          <a:bodyPr>
            <a:normAutofit/>
          </a:bodyPr>
          <a:lstStyle>
            <a:lvl1pPr marL="0" indent="0">
              <a:buNone/>
              <a:defRPr sz="1400" u="none" strike="noStrike" kern="1200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561308" y="2534854"/>
            <a:ext cx="5305743" cy="132344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2"/>
          </a:soli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pic>
        <p:nvPicPr>
          <p:cNvPr id="9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1292840" y="1270"/>
            <a:ext cx="563880" cy="1256665"/>
          </a:xfrm>
          <a:prstGeom prst="rect">
            <a:avLst/>
          </a:prstGeom>
        </p:spPr>
      </p:pic>
      <p:pic>
        <p:nvPicPr>
          <p:cNvPr id="10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10781665" y="1270"/>
            <a:ext cx="393700" cy="8782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5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10781363" y="1270"/>
            <a:ext cx="1075625" cy="1256665"/>
            <a:chOff x="10781363" y="1270"/>
            <a:chExt cx="1075625" cy="1256665"/>
          </a:xfrm>
        </p:grpSpPr>
        <p:pic>
          <p:nvPicPr>
            <p:cNvPr id="12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3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781363" y="1270"/>
            <a:ext cx="1075625" cy="1256665"/>
            <a:chOff x="10781363" y="1270"/>
            <a:chExt cx="1075625" cy="1256665"/>
          </a:xfrm>
        </p:grpSpPr>
        <p:pic>
          <p:nvPicPr>
            <p:cNvPr id="11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2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 userDrawn="1">
            <p:custDataLst>
              <p:tags r:id="rId7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3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10781363" y="1270"/>
            <a:ext cx="1075625" cy="1256665"/>
            <a:chOff x="10781363" y="1270"/>
            <a:chExt cx="1075625" cy="1256665"/>
          </a:xfrm>
        </p:grpSpPr>
        <p:pic>
          <p:nvPicPr>
            <p:cNvPr id="17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11293108" y="1270"/>
              <a:ext cx="563880" cy="1256665"/>
            </a:xfrm>
            <a:prstGeom prst="rect">
              <a:avLst/>
            </a:prstGeom>
          </p:spPr>
        </p:pic>
        <p:pic>
          <p:nvPicPr>
            <p:cNvPr id="18" name="稻壳儿春秋广告/盗版必究        原创来源：http://chn.docer.com/works?userid=199329941#!/work_time" descr="图片包含 物体&#10;&#10;已生成极高可信度的说明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10781363" y="1270"/>
              <a:ext cx="393700" cy="87820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2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4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5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12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248900" y="0"/>
            <a:ext cx="700405" cy="1562100"/>
          </a:xfrm>
          <a:prstGeom prst="rect">
            <a:avLst/>
          </a:prstGeom>
        </p:spPr>
      </p:pic>
      <p:pic>
        <p:nvPicPr>
          <p:cNvPr id="13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10949305" y="0"/>
            <a:ext cx="974725" cy="2173605"/>
          </a:xfrm>
          <a:prstGeom prst="rect">
            <a:avLst/>
          </a:prstGeom>
        </p:spPr>
      </p:pic>
      <p:pic>
        <p:nvPicPr>
          <p:cNvPr id="14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0800" tIns="39600" rIns="75600" bIns="396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0800" tIns="0" rIns="8280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image" Target="../media/image15.png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image" Target="../media/image16.png"/><Relationship Id="rId1" Type="http://schemas.openxmlformats.org/officeDocument/2006/relationships/tags" Target="../tags/tag16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9.xml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tags" Target="../tags/tag16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image" Target="../media/image9.png"/><Relationship Id="rId1" Type="http://schemas.openxmlformats.org/officeDocument/2006/relationships/tags" Target="../tags/tag17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副标题 3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669882" y="270518"/>
            <a:ext cx="10852237" cy="5388907"/>
          </a:xfrm>
        </p:spPr>
        <p:txBody>
          <a:bodyPr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曾镜源</a:t>
            </a:r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嘉应学院计算机学院物联网工程系</a:t>
            </a:r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  <a:p>
            <a:r>
              <a:rPr lang="en-US" altLang="zh-CN">
                <a:solidFill>
                  <a:schemeClr val="dk1">
                    <a:lumMod val="85000"/>
                    <a:lumOff val="15000"/>
                  </a:schemeClr>
                </a:solidFill>
              </a:rPr>
              <a:t>15140706@qq.com</a:t>
            </a:r>
            <a:endParaRPr lang="en-US" altLang="zh-CN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697221" y="5700095"/>
            <a:ext cx="797560" cy="46037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p>
            <a:pPr lvl="0" algn="ctr"/>
            <a:r>
              <a:rPr lang="en-US" altLang="zh-CN" sz="2400" b="1" dirty="0">
                <a:solidFill>
                  <a:schemeClr val="lt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+mn-ea"/>
                <a:sym typeface="+mn-lt"/>
              </a:rPr>
              <a:t>2023</a:t>
            </a:r>
            <a:endParaRPr lang="en-US" altLang="zh-CN" sz="2400" b="1" dirty="0">
              <a:solidFill>
                <a:schemeClr val="lt1"/>
              </a:solidFill>
              <a:latin typeface="汉仪旗黑-85S" panose="00020600040101010101" pitchFamily="18" charset="-122"/>
              <a:ea typeface="汉仪旗黑-85S" panose="00020600040101010101" pitchFamily="18" charset="-122"/>
              <a:cs typeface="+mn-ea"/>
              <a:sym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07063" y="2548834"/>
            <a:ext cx="1177874" cy="32834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/>
        <p:txBody>
          <a:bodyPr bIns="0" anchor="b" anchorCtr="0"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</a:rPr>
              <a:t>单片机SFR</a:t>
            </a:r>
            <a:r>
              <a:rPr lang="zh-CN" altLang="en-US" sz="720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</a:rPr>
              <a:t>作用</a:t>
            </a:r>
            <a:endParaRPr lang="zh-CN" altLang="en-US" sz="7200">
              <a:solidFill>
                <a:schemeClr val="accent1">
                  <a:lumMod val="75000"/>
                </a:schemeClr>
              </a:solidFill>
              <a:uFillTx/>
              <a:latin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75590"/>
            <a:ext cx="10852150" cy="794385"/>
          </a:xfrm>
        </p:spPr>
        <p:txBody>
          <a:bodyPr/>
          <a:p>
            <a:pPr algn="ctr"/>
            <a:r>
              <a:rPr lang="zh-CN" altLang="en-US" sz="4000"/>
              <a:t>寄存器</a:t>
            </a:r>
            <a:r>
              <a:rPr lang="zh-CN" altLang="en-US" sz="4000"/>
              <a:t>作用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06170"/>
            <a:ext cx="10852150" cy="4178300"/>
          </a:xfrm>
        </p:spPr>
        <p:txBody>
          <a:bodyPr/>
          <a:p>
            <a:r>
              <a:rPr lang="zh-CN" altLang="en-US" sz="2400"/>
              <a:t>工程师通过计算机程序</a:t>
            </a:r>
            <a:r>
              <a:rPr lang="en-US" altLang="zh-CN" sz="2400"/>
              <a:t>(</a:t>
            </a:r>
            <a:r>
              <a:rPr sz="2400"/>
              <a:t>如</a:t>
            </a:r>
            <a:r>
              <a:rPr lang="en-US" altLang="zh-CN" sz="2400"/>
              <a:t>C</a:t>
            </a:r>
            <a:r>
              <a:rPr sz="2400"/>
              <a:t>语言</a:t>
            </a:r>
            <a:r>
              <a:rPr lang="en-US" altLang="zh-CN" sz="2400"/>
              <a:t>)</a:t>
            </a:r>
            <a:r>
              <a:rPr lang="zh-CN" altLang="en-US" sz="2400"/>
              <a:t>去控制外部设备</a:t>
            </a:r>
            <a:r>
              <a:rPr lang="en-US" altLang="zh-CN" sz="2400"/>
              <a:t>(</a:t>
            </a:r>
            <a:r>
              <a:rPr sz="2400"/>
              <a:t>如</a:t>
            </a:r>
            <a:r>
              <a:rPr lang="en-US" altLang="zh-CN" sz="2400"/>
              <a:t>LED)</a:t>
            </a:r>
            <a:r>
              <a:rPr lang="zh-CN" altLang="en-US" sz="2400"/>
              <a:t>或读取外部设备</a:t>
            </a:r>
            <a:r>
              <a:rPr lang="en-US" altLang="zh-CN" sz="2400"/>
              <a:t>(</a:t>
            </a:r>
            <a:r>
              <a:rPr sz="2400"/>
              <a:t>如传感器</a:t>
            </a:r>
            <a:r>
              <a:rPr lang="en-US" altLang="zh-CN" sz="2400"/>
              <a:t>)</a:t>
            </a:r>
            <a:r>
              <a:rPr lang="zh-CN" altLang="en-US" sz="2400"/>
              <a:t>状态，逻辑关系以控制</a:t>
            </a:r>
            <a:r>
              <a:rPr lang="en-US" altLang="zh-CN" sz="2400"/>
              <a:t>LED</a:t>
            </a:r>
            <a:r>
              <a:rPr sz="2400"/>
              <a:t>开关为例</a:t>
            </a:r>
            <a:r>
              <a:rPr lang="zh-CN" altLang="en-US" sz="2400"/>
              <a:t>：</a:t>
            </a:r>
            <a:endParaRPr lang="zh-CN" altLang="en-US" sz="2400"/>
          </a:p>
          <a:p>
            <a:r>
              <a:rPr lang="zh-CN" altLang="en-US" sz="2400"/>
              <a:t>假设</a:t>
            </a:r>
            <a:r>
              <a:rPr lang="en-US" altLang="zh-CN" sz="2400"/>
              <a:t>P1.5</a:t>
            </a:r>
            <a:r>
              <a:rPr sz="2400"/>
              <a:t>连接</a:t>
            </a:r>
            <a:r>
              <a:rPr lang="en-US" altLang="zh-CN" sz="2400"/>
              <a:t>LED</a:t>
            </a:r>
            <a:r>
              <a:rPr sz="2400"/>
              <a:t>，则：</a:t>
            </a:r>
            <a:endParaRPr sz="2400"/>
          </a:p>
          <a:p>
            <a:pPr marL="0" indent="0">
              <a:buNone/>
            </a:pPr>
            <a:r>
              <a:rPr lang="en-US" altLang="zh-CN" sz="2400"/>
              <a:t>  P1|=0x20;//</a:t>
            </a:r>
            <a:r>
              <a:rPr sz="2400"/>
              <a:t>输出高电平</a:t>
            </a:r>
            <a:r>
              <a:rPr lang="en-US" altLang="zh-CN" sz="2400"/>
              <a:t> 0010 0000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  P1&amp;=0xDF;//</a:t>
            </a:r>
            <a:r>
              <a:rPr sz="2400"/>
              <a:t>输出低电平</a:t>
            </a:r>
            <a:r>
              <a:rPr lang="en-US" altLang="zh-CN" sz="2400"/>
              <a:t> 1101 1111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P1</a:t>
            </a:r>
            <a:r>
              <a:rPr sz="2400"/>
              <a:t>端口将</a:t>
            </a:r>
            <a:r>
              <a:rPr lang="en-US" altLang="zh-CN" sz="2400"/>
              <a:t>P1</a:t>
            </a:r>
            <a:r>
              <a:rPr sz="2400"/>
              <a:t>值翻译，从</a:t>
            </a:r>
            <a:r>
              <a:rPr lang="en-US" altLang="zh-CN" sz="2400"/>
              <a:t>P1</a:t>
            </a:r>
            <a:r>
              <a:rPr sz="2400"/>
              <a:t>口的</a:t>
            </a:r>
            <a:r>
              <a:rPr lang="en-US" altLang="zh-CN" sz="2400"/>
              <a:t>8</a:t>
            </a:r>
            <a:r>
              <a:rPr sz="2400"/>
              <a:t>根引脚输出指定值对应的电平，从而控制</a:t>
            </a:r>
            <a:r>
              <a:rPr lang="en-US" altLang="zh-CN" sz="2400"/>
              <a:t>LED</a:t>
            </a:r>
            <a:r>
              <a:rPr sz="2400"/>
              <a:t>的亮或</a:t>
            </a:r>
            <a:r>
              <a:rPr sz="2400"/>
              <a:t>灭。</a:t>
            </a:r>
            <a:endParaRPr sz="2400"/>
          </a:p>
        </p:txBody>
      </p:sp>
      <p:sp>
        <p:nvSpPr>
          <p:cNvPr id="4" name="上凸带形 3"/>
          <p:cNvSpPr/>
          <p:nvPr/>
        </p:nvSpPr>
        <p:spPr>
          <a:xfrm>
            <a:off x="601980" y="5394960"/>
            <a:ext cx="10988040" cy="125476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rgbClr val="FFFF00"/>
                </a:solidFill>
              </a:rPr>
              <a:t>寄存</a:t>
            </a:r>
            <a:r>
              <a:rPr lang="zh-CN" altLang="en-US" sz="2800">
                <a:solidFill>
                  <a:srgbClr val="FFFF00"/>
                </a:solidFill>
              </a:rPr>
              <a:t>器是</a:t>
            </a:r>
            <a:r>
              <a:rPr lang="en-US" altLang="zh-CN" sz="2800">
                <a:solidFill>
                  <a:srgbClr val="FFFF00"/>
                </a:solidFill>
              </a:rPr>
              <a:t>CPU</a:t>
            </a:r>
            <a:r>
              <a:rPr lang="zh-CN" altLang="en-US" sz="2800">
                <a:solidFill>
                  <a:srgbClr val="FFFF00"/>
                </a:solidFill>
              </a:rPr>
              <a:t>与外设联系的纽带</a:t>
            </a:r>
            <a:endParaRPr lang="zh-CN" altLang="en-US" sz="280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6483985" y="128905"/>
            <a:ext cx="5598795" cy="660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88900" y="166370"/>
          <a:ext cx="6256655" cy="6440170"/>
        </p:xfrm>
        <a:graphic>
          <a:graphicData uri="http://schemas.openxmlformats.org/drawingml/2006/table">
            <a:tbl>
              <a:tblPr/>
              <a:tblGrid>
                <a:gridCol w="502285"/>
                <a:gridCol w="724535"/>
                <a:gridCol w="652780"/>
                <a:gridCol w="944245"/>
                <a:gridCol w="944880"/>
                <a:gridCol w="613410"/>
                <a:gridCol w="613410"/>
                <a:gridCol w="607695"/>
                <a:gridCol w="653415"/>
              </a:tblGrid>
              <a:tr h="64516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2000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MCS-51单片机的特殊功能寄存器(带*为52增加)</a:t>
                      </a:r>
                      <a:endParaRPr lang="zh-CN" altLang="en-US" sz="2000" b="1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T cap="flat">
                      <a:noFill/>
                    </a:lnT>
                    <a:lnB cap="flat">
                      <a:noFill/>
                    </a:lnB>
                  </a:tcPr>
                </a:tc>
                <a:tc hMerge="1">
                  <a:tcPr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0/8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1/9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2/A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3/B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4/C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5/D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6/E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7/F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36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F8H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F0H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E8H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E0H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ACC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CMOD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D0H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PSW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C8H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T2CON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RCAP2L*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RCAP2H*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TL2*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TH2*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C0H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IP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P3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IE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P2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SCON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SBUF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P1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88H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TCON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TMOD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TL0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TL1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TH0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TH1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80H</a:t>
                      </a: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P0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SP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DPL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DPH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PCON</a:t>
                      </a:r>
                      <a:endParaRPr lang="en-US" altLang="en-US" sz="18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140" y="351155"/>
            <a:ext cx="1559560" cy="6312535"/>
          </a:xfrm>
        </p:spPr>
        <p:txBody>
          <a:bodyPr vert="eaVert"/>
          <a:p>
            <a:pPr algn="ctr"/>
            <a:r>
              <a:rPr lang="en-US" altLang="zh-CN" sz="4800"/>
              <a:t>MCS-51</a:t>
            </a:r>
            <a:r>
              <a:rPr sz="4800"/>
              <a:t>内部框图</a:t>
            </a:r>
            <a:endParaRPr sz="4800"/>
          </a:p>
        </p:txBody>
      </p:sp>
      <p:graphicFrame>
        <p:nvGraphicFramePr>
          <p:cNvPr id="34820" name="Object 5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261360" y="43815"/>
          <a:ext cx="8550910" cy="675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4943475" imgH="4343400" progId="Word.Picture.8">
                  <p:embed/>
                </p:oleObj>
              </mc:Choice>
              <mc:Fallback>
                <p:oleObj name="" r:id="rId2" imgW="4943475" imgH="43434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61360" y="43815"/>
                        <a:ext cx="8550910" cy="67570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稻壳儿春秋广告/盗版必究        原创来源：http://chn.docer.com/works?userid=199329941#!/work_time" descr="图片包含 物体&#10;&#10;已生成极高可信度的说明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307340" y="0"/>
            <a:ext cx="419100" cy="9347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idx="4294967295"/>
            <p:custDataLst>
              <p:tags r:id="rId3"/>
            </p:custDataLst>
          </p:nvPr>
        </p:nvSpPr>
        <p:spPr>
          <a:xfrm>
            <a:off x="838200" y="365125"/>
            <a:ext cx="10515600" cy="1101725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dk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  <a:sym typeface="+mn-ea"/>
              </a:rPr>
              <a:t>SFR</a:t>
            </a:r>
            <a:r>
              <a:rPr lang="en-US" altLang="zh-CN">
                <a:solidFill>
                  <a:schemeClr val="dk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  <a:sym typeface="+mn-ea"/>
              </a:rPr>
              <a:t>理</a:t>
            </a:r>
            <a:r>
              <a:rPr lang="en-US" altLang="zh-CN">
                <a:solidFill>
                  <a:schemeClr val="dk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  <a:cs typeface="汉仪旗黑-85S" panose="00020600040101010101" pitchFamily="18" charset="-122"/>
                <a:sym typeface="+mn-ea"/>
              </a:rPr>
              <a:t>解</a:t>
            </a:r>
            <a:endParaRPr lang="en-US" altLang="zh-CN">
              <a:solidFill>
                <a:schemeClr val="dk1"/>
              </a:solidFill>
              <a:latin typeface="汉仪旗黑-85S" panose="00020600040101010101" pitchFamily="18" charset="-122"/>
              <a:ea typeface="汉仪旗黑-85S" panose="00020600040101010101" pitchFamily="18" charset="-122"/>
              <a:cs typeface="汉仪旗黑-85S" panose="00020600040101010101" pitchFamily="18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  <p:custDataLst>
              <p:tags r:id="rId4"/>
            </p:custDataLst>
          </p:nvPr>
        </p:nvSpPr>
        <p:spPr>
          <a:xfrm>
            <a:off x="592455" y="1330960"/>
            <a:ext cx="11021060" cy="5253355"/>
          </a:xfr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学过C语言的人，肯定对单片机中的SFR定义的数据类型，有一些困惑。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比如说,在单片机的头文件中,SFR定义的是特殊寄存器的地址：SFR P0=0X80H，这显然说明P0是一个地址常量。既然是地址常量，那么P0就不能再赋值，那么在使用P0寄存器的时候，P0又能直接赋值：P0=0xFF；//1111 1111.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在C语言中,如果P0表示的是指针变量。那么P0就不应该,当做变量名来使用。这就让学单片机的人对SFR定义的变量一头雾水(我也是搞不懂),后来我用自己的想法对SFR进行理解。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algn="l">
              <a:buClrTx/>
              <a:buSzTx/>
              <a:buNone/>
            </a:pPr>
            <a:r>
              <a:rPr lang="en-US" altLang="zh-CN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SFR P0=0X80H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SFR可理解为: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algn="l">
              <a:buClrTx/>
              <a:buSzTx/>
              <a:buNone/>
            </a:pPr>
            <a:r>
              <a:rPr lang="en-US" altLang="zh-CN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P0;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algn="l">
              <a:buClrTx/>
              <a:buSzTx/>
              <a:buNone/>
            </a:pPr>
            <a:r>
              <a:rPr lang="en-US" altLang="zh-CN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&amp;P0=0x80H;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0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这样P0的地址即是一个指针常量，也可以对P0赋值。</a:t>
            </a: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buClrTx/>
              <a:buSzTx/>
            </a:pPr>
            <a:endParaRPr lang="zh-CN" altLang="en-US" sz="20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56205" y="379730"/>
            <a:ext cx="7380605" cy="890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</a:t>
            </a:r>
            <a:r>
              <a:rPr lang="en-US" altLang="zh-CN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SFR</a:t>
            </a:r>
            <a:r>
              <a:rPr lang="zh-CN" altLang="en-US" sz="4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zh-CN" altLang="en-US" sz="4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5690" y="1450975"/>
            <a:ext cx="10021570" cy="2541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/>
              <a:t>SFR</a:t>
            </a:r>
            <a:r>
              <a:rPr lang="zh-CN" altLang="en-US" sz="2800"/>
              <a:t>本质上是特定地址，对</a:t>
            </a:r>
            <a:r>
              <a:rPr lang="en-US" altLang="zh-CN" sz="2800"/>
              <a:t>CPU</a:t>
            </a:r>
            <a:r>
              <a:rPr lang="zh-CN" altLang="en-US" sz="2800"/>
              <a:t>来说其无法区分变量和</a:t>
            </a:r>
            <a:r>
              <a:rPr lang="en-US" altLang="zh-CN" sz="2800"/>
              <a:t>SFR</a:t>
            </a:r>
            <a:r>
              <a:rPr lang="zh-CN" altLang="en-US" sz="2800"/>
              <a:t>。</a:t>
            </a:r>
            <a:endParaRPr lang="zh-CN" altLang="en-US" sz="2800"/>
          </a:p>
          <a:p>
            <a:pPr marL="457200" indent="-4572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/>
              <a:t>STM32</a:t>
            </a:r>
            <a:r>
              <a:rPr lang="zh-CN" altLang="en-US" sz="2800"/>
              <a:t>这类</a:t>
            </a:r>
            <a:r>
              <a:rPr lang="en-US" altLang="zh-CN" sz="2800"/>
              <a:t>32</a:t>
            </a:r>
            <a:r>
              <a:rPr lang="zh-CN" altLang="en-US" sz="2800"/>
              <a:t>位处理器不再提</a:t>
            </a:r>
            <a:r>
              <a:rPr lang="en-US" altLang="zh-CN" sz="2800"/>
              <a:t>SFR</a:t>
            </a:r>
            <a:r>
              <a:rPr lang="zh-CN" altLang="en-US" sz="2800"/>
              <a:t>，而是说存储器映射，不同的功能区映射到不同的存储区域，通过头文件内的宏定义给这些特定功能的地址赋予特定的名称，用些来跟</a:t>
            </a:r>
            <a:r>
              <a:rPr lang="en-US" altLang="zh-CN" sz="2800"/>
              <a:t>SFR</a:t>
            </a:r>
            <a:r>
              <a:rPr lang="zh-CN" altLang="en-US" sz="2800"/>
              <a:t>差不</a:t>
            </a:r>
            <a:r>
              <a:rPr lang="zh-CN" altLang="en-US" sz="2800"/>
              <a:t>多。</a:t>
            </a:r>
            <a:endParaRPr lang="zh-CN" altLang="en-US" sz="2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UNIT_BK_DARK_LIGHT" val="2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UNIT_BK_DARK_LIGHT" val="2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UNIT_BK_DARK_LIGHT" val="2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UNIT_BK_DARK_LIGHT" val="2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UNIT_BK_DARK_LIGHT" val="2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UNIT_BK_DARK_LIGHT" val="2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0975"/>
</p:tagLst>
</file>

<file path=ppt/tags/tag15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0975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200975"/>
  <p:tag name="KSO_WM_TEMPLATE_THUMBS_INDEX" val="1、6、7、8、10、15"/>
  <p:tag name="KSO_WM_TEMPLATE_MASTER_TYPE" val="1"/>
  <p:tag name="KSO_WM_TEMPLATE_COLOR_TYPE" val="1"/>
  <p:tag name="KSO_WM_TEMPLATE_MASTER_THUMB_INDEX" val="18"/>
  <p:tag name="KSO_WM_UNIT_SHOW_EDIT_AREA_INDICATION" val="0"/>
</p:tagLst>
</file>

<file path=ppt/tags/tag15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0975_1*i*1"/>
  <p:tag name="KSO_WM_TEMPLATE_CATEGORY" val="custom"/>
  <p:tag name="KSO_WM_TEMPLATE_INDEX" val="2020097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61.xml><?xml version="1.0" encoding="utf-8"?>
<p:tagLst xmlns:p="http://schemas.openxmlformats.org/presentationml/2006/main">
  <p:tag name="KSO_WM_UNIT_VALUE" val="91*327"/>
  <p:tag name="KSO_WM_UNIT_HIGHLIGHT" val="0"/>
  <p:tag name="KSO_WM_UNIT_COMPATIBLE" val="0"/>
  <p:tag name="KSO_WM_UNIT_DIAGRAM_ISNUMVISUAL" val="0"/>
  <p:tag name="KSO_WM_UNIT_DIAGRAM_ISREFERUNIT" val="0"/>
  <p:tag name="KSO_WM_UNIT_TYPE" val="j"/>
  <p:tag name="KSO_WM_UNIT_INDEX" val="1"/>
  <p:tag name="KSO_WM_UNIT_ID" val="custom20200975_1*j*1"/>
  <p:tag name="KSO_WM_TEMPLATE_CATEGORY" val="custom"/>
  <p:tag name="KSO_WM_TEMPLATE_INDEX" val="20200975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ISCONTENTSTITLE" val="0"/>
  <p:tag name="KSO_WM_UNIT_PRESET_TEXT" val="开启智能家居 新时代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0975_1*a*1"/>
  <p:tag name="KSO_WM_TEMPLATE_CATEGORY" val="custom"/>
  <p:tag name="KSO_WM_TEMPLATE_INDEX" val="2020097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3.xml><?xml version="1.0" encoding="utf-8"?>
<p:tagLst xmlns:p="http://schemas.openxmlformats.org/presentationml/2006/main">
  <p:tag name="KSO_WM_SLIDE_ID" val="custom20200975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0975"/>
  <p:tag name="KSO_WM_SLIDE_LAYOUT" val="a_j"/>
  <p:tag name="KSO_WM_SLIDE_LAYOUT_CNT" val="1_1"/>
  <p:tag name="KSO_WM_TEMPLATE_THUMBS_INDEX" val="1、6、7、8、10、15"/>
  <p:tag name="KSO_WM_TEMPLATE_MASTER_TYPE" val="1"/>
  <p:tag name="KSO_WM_TEMPLATE_COLOR_TYPE" val="1"/>
  <p:tag name="KSO_WM_TEMPLATE_MASTER_THUMB_INDEX" val="12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0975"/>
</p:tagLst>
</file>

<file path=ppt/tags/tag165.xml><?xml version="1.0" encoding="utf-8"?>
<p:tagLst xmlns:p="http://schemas.openxmlformats.org/presentationml/2006/main">
  <p:tag name="KSO_WM_UNIT_PLACING_PICTURE_USER_VIEWPORT" val="{&quot;height&quot;:10636,&quot;width&quot;:9080}"/>
</p:tagLst>
</file>

<file path=ppt/tags/tag166.xml><?xml version="1.0" encoding="utf-8"?>
<p:tagLst xmlns:p="http://schemas.openxmlformats.org/presentationml/2006/main">
  <p:tag name="KSO_WM_UNIT_TABLE_BEAUTIFY" val="smartTable{ae285772-95e8-47c4-b6af-746c9882d3e7}"/>
  <p:tag name="TABLE_ENDDRAG_ORIGIN_RECT" val="492*481"/>
  <p:tag name="TABLE_ENDDRAG_RECT" val="4*8*492*481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0975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0975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4.xml><?xml version="1.0" encoding="utf-8"?>
<p:tagLst xmlns:p="http://schemas.openxmlformats.org/presentationml/2006/main">
  <p:tag name="COMMONDATA" val="eyJoZGlkIjoiMDUwNGIwZWVhYmRiYWIyOWQ3MDUwMDFkMWUyNjAyNWUifQ=="/>
  <p:tag name="KSO_WPP_MARK_KEY" val="856bf066-5693-4dd4-a828-44152ded192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3DECE"/>
      </a:dk2>
      <a:lt2>
        <a:srgbClr val="F2F2F2"/>
      </a:lt2>
      <a:accent1>
        <a:srgbClr val="D3884C"/>
      </a:accent1>
      <a:accent2>
        <a:srgbClr val="C2944A"/>
      </a:accent2>
      <a:accent3>
        <a:srgbClr val="B2A64C"/>
      </a:accent3>
      <a:accent4>
        <a:srgbClr val="9EB757"/>
      </a:accent4>
      <a:accent5>
        <a:srgbClr val="83C76D"/>
      </a:accent5>
      <a:accent6>
        <a:srgbClr val="5FD48B"/>
      </a:accent6>
      <a:hlink>
        <a:srgbClr val="658BD5"/>
      </a:hlink>
      <a:folHlink>
        <a:srgbClr val="9F67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WPS 演示</Application>
  <PresentationFormat>宽屏</PresentationFormat>
  <Paragraphs>157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Calibri</vt:lpstr>
      <vt:lpstr>华文行楷</vt:lpstr>
      <vt:lpstr>Office 主题</vt:lpstr>
      <vt:lpstr>1_Office 主题​​</vt:lpstr>
      <vt:lpstr>Word.Picture.8</vt:lpstr>
      <vt:lpstr>单片机SFR作用</vt:lpstr>
      <vt:lpstr>端口与寄存器</vt:lpstr>
      <vt:lpstr>PowerPoint 演示文稿</vt:lpstr>
      <vt:lpstr>PowerPoint 演示文稿</vt:lpstr>
      <vt:lpstr>SFR理解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zeng jing yuan</cp:lastModifiedBy>
  <cp:revision>13</cp:revision>
  <dcterms:created xsi:type="dcterms:W3CDTF">2023-04-29T16:21:00Z</dcterms:created>
  <dcterms:modified xsi:type="dcterms:W3CDTF">2023-04-30T14:40:05Z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92EA049BF0034766AB0572EEB22C0847_12</vt:lpwstr>
  </property>
  <property fmtid="{D5CDD505-2E9C-101B-9397-08002B2CF9AE}" pid="3" name="KSOProductBuildVer">
    <vt:lpwstr>2052-11.1.0.14036</vt:lpwstr>
  </property>
</Properties>
</file>